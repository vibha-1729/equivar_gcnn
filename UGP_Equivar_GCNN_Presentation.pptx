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914400"/>
            <a:ext cx="4389120" cy="384048"/>
          </a:xfrm>
          <a:prstGeom prst="roundRect">
            <a:avLst/>
          </a:prstGeom>
          <a:solidFill>
            <a:srgbClr val="172B52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B6D4"/>
                </a:solidFill>
                <a:latin typeface="Segoe UI"/>
              </a:defRPr>
            </a:pPr>
            <a:r>
              <a:t>INDIAN INSTITUTE OF TECHNOLOGY KANPUR • UGP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t>Data-Driven Discovery of Crystalline Semiconductors</a:t>
            </a:r>
            <a:br/>
            <a:r>
              <a:t>with Anomalous Born Effective Charges</a:t>
            </a:r>
          </a:p>
          <a:p>
            <a:pPr>
              <a:defRPr sz="1500">
                <a:solidFill>
                  <a:srgbClr val="94A3B8"/>
                </a:solidFill>
                <a:latin typeface="Segoe UI"/>
              </a:defRPr>
            </a:pPr>
            <a:r>
              <a:t>High-Throughput Prediction of Full Rank-2 Cartesian Tensors via E(3)-Equivariant Graph Neural Networks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749039"/>
            <a:ext cx="10545775" cy="1280160"/>
          </a:xfrm>
          <a:prstGeom prst="roundRect">
            <a:avLst/>
          </a:prstGeom>
          <a:solidFill>
            <a:srgbClr val="172B52"/>
          </a:solidFill>
          <a:ln w="12700"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8404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Author / Presenter: Vibha Narayan  |  Department of Physics, IIT Kanpur</a:t>
            </a:r>
          </a:p>
          <a:p>
            <a:pPr>
              <a:spcAft>
                <a:spcPts val="600"/>
              </a:spcAft>
              <a:defRPr sz="1250" b="1">
                <a:solidFill>
                  <a:srgbClr val="06B6D4"/>
                </a:solidFill>
                <a:latin typeface="Segoe UI"/>
              </a:defRPr>
            </a:pPr>
            <a:r>
              <a:t>Project Supervisor: Prof. Koushik Pal  |  Department of Physics, IIT Kanpur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Codebase: https://github.com/Vibha-1729/Equivar_GCNN  •  Production PyTorch Geometric &amp; e3nn Framework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257800"/>
            <a:ext cx="3328416" cy="1051560"/>
          </a:xfrm>
          <a:prstGeom prst="roundRect">
            <a:avLst/>
          </a:prstGeom>
          <a:solidFill>
            <a:srgbClr val="122449"/>
          </a:solidFill>
          <a:ln w="12700">
            <a:solidFill>
              <a:srgbClr val="2646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321808"/>
            <a:ext cx="29626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E(3)-EQUIVARIANCE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Guarantees 3D rotational &amp; inversion symmetry in single-pass tensor prediction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5257800"/>
            <a:ext cx="3328416" cy="1051560"/>
          </a:xfrm>
          <a:prstGeom prst="roundRect">
            <a:avLst/>
          </a:prstGeom>
          <a:solidFill>
            <a:srgbClr val="122449"/>
          </a:solidFill>
          <a:ln w="12700">
            <a:solidFill>
              <a:srgbClr val="2646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5321808"/>
            <a:ext cx="29626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65,322 CRYSTALS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Unified master corpus spanning 89 elements of the periodic 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2" y="5257800"/>
            <a:ext cx="3328416" cy="1051560"/>
          </a:xfrm>
          <a:prstGeom prst="roundRect">
            <a:avLst/>
          </a:prstGeom>
          <a:solidFill>
            <a:srgbClr val="122449"/>
          </a:solidFill>
          <a:ln w="12700">
            <a:solidFill>
              <a:srgbClr val="2646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5321808"/>
            <a:ext cx="296265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GNOME SCREENING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Discovered novel high-performance semiconductors with giant BEC (Z* &gt; 12 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01 | MOTIVATION &amp; PHYSICAL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043"/>
                </a:solidFill>
                <a:latin typeface="Segoe UI"/>
              </a:defRPr>
            </a:pPr>
            <a:r>
              <a:t>Born Effective Charge (BEC) Tensors: Physics &amp; The Equivariant Solution</a:t>
            </a:r>
          </a:p>
          <a:p>
            <a:pPr>
              <a:defRPr sz="1200" b="0">
                <a:solidFill>
                  <a:srgbClr val="64748B"/>
                </a:solidFill>
                <a:latin typeface="Segoe UI"/>
              </a:defRPr>
            </a:pPr>
            <a:r>
              <a:t>Dynamic macroscopic polarizability, computational bottlenecks of DFPT, and geometric deep learning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47548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2043"/>
                </a:solidFill>
                <a:latin typeface="Segoe UI"/>
              </a:defRPr>
            </a:pPr>
            <a:r>
              <a:t>The Physical Target: Atomic BEC Tensor (Z*)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Fundamental Definition (Gonze &amp; Lee, 1997):</a:t>
            </a:r>
            <a:br/>
            <a:r>
              <a:t>Z*_{i,αβ} = - (1 / |e|) · ∂²E / (∂E_α ∂u_{i,β}) = (Ω / e) · (∂P_α / ∂u_{i,β})</a:t>
            </a:r>
            <a:br/>
            <a:r>
              <a:t>• Rank-2 (3 × 3) Cartesian tensor describing macroscopic polarization response (P_α) induced by sub-lattice atomic displacement (u_{i,β}) under electric field E_α.</a:t>
            </a:r>
          </a:p>
          <a:p>
            <a:pPr>
              <a:spcAft>
                <a:spcPts val="4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Origin &amp; Impact of Anomalous Born Charges: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• Dynamic Covalency: Large anomalous deviations from nominal ionic valences (e.g. Ti in BaTiO3: nominal +4 vs. BEC ~+7.5 e) arise from strong dynamic O 2p ↔ metal d-orbital hybridization during atomic motion.</a:t>
            </a:r>
            <a:br/>
            <a:r>
              <a:t>• Functional Materials Relevance: Signals soft optical phonon modes, incipient ferroelectric instability, high piezoelectric response, and colossal dielectric permittivity.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463040"/>
            <a:ext cx="47548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F2043"/>
                </a:solidFill>
                <a:latin typeface="Segoe UI"/>
              </a:defRPr>
            </a:pPr>
            <a:r>
              <a:t>The Computational Bottleneck: DFPT vs DL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Segoe UI"/>
              </a:defRPr>
            </a:pPr>
            <a:r>
              <a:t>• Density Functional Perturbation Theory (DFPT): Highly accurate but computationally prohibitive (O(N³) computational complexity). Precludes broad screening of multi-component crystal spaces.</a:t>
            </a:r>
            <a:br/>
            <a:r>
              <a:t>• Machine Learning Need: Fast surrogate models capable of predicting tens of thousands of tensors per hour.</a:t>
            </a:r>
          </a:p>
          <a:p>
            <a:pPr>
              <a:spcAft>
                <a:spcPts val="400"/>
              </a:spcAft>
              <a:defRPr sz="1200" b="1">
                <a:solidFill>
                  <a:srgbClr val="E11D48"/>
                </a:solidFill>
                <a:latin typeface="Segoe UI"/>
              </a:defRPr>
            </a:pPr>
            <a:r>
              <a:t>Why Standard ML / Invariant GNNs Fail on Tensors: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• Tensors are directional: Rotating a crystal lattice by rotation matrix R ∈ O(3) must rotate the atomic BEC tensor covariantly:</a:t>
            </a:r>
            <a:br/>
            <a:r>
              <a:t>         Z*_{rotated} = R · Z* · Rᵀ</a:t>
            </a:r>
            <a:br/>
            <a:r>
              <a:t>• Standard scalar GNNs (e.g., SchNet, CGCNN) only predict rotation-invariant scalar quantities and fail to preserve directional tensor orientation.</a:t>
            </a:r>
            <a:br/>
            <a:r>
              <a:t>• Equivariant GNN Advantage: By formulating atomic interactions using spherical harmonics (irreps l=0,1,2) and Clebsch-Gordan tensor products, physical rotational and inversion symmetries are strictly preserved by construction.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02 | DATASET CURATION &amp; PHYSICS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043"/>
                </a:solidFill>
                <a:latin typeface="Segoe UI"/>
              </a:defRPr>
            </a:pPr>
            <a:r>
              <a:t>Multi-Source Dataset Integration &amp; Strict Physical Filtering</a:t>
            </a:r>
          </a:p>
          <a:p>
            <a:pPr>
              <a:defRPr sz="1200" b="0">
                <a:solidFill>
                  <a:srgbClr val="64748B"/>
                </a:solidFill>
                <a:latin typeface="Segoe UI"/>
              </a:defRPr>
            </a:pPr>
            <a:r>
              <a:t>Building a robust 65,322-structure corpus with Acoustic Sum Rule conservation and bandgap constraints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2487168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80160"/>
            <a:ext cx="22128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2200" b="1">
                <a:solidFill>
                  <a:srgbClr val="2563EB"/>
                </a:solidFill>
                <a:latin typeface="Segoe UI"/>
              </a:defRPr>
            </a:pPr>
            <a:r>
              <a:t>65,322</a:t>
            </a:r>
          </a:p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Total Master Structures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65576" y="1234440"/>
            <a:ext cx="2487168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2736" y="1280160"/>
            <a:ext cx="22128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2200" b="1">
                <a:solidFill>
                  <a:srgbClr val="10B981"/>
                </a:solidFill>
                <a:latin typeface="Segoe UI"/>
              </a:defRPr>
            </a:pPr>
            <a:r>
              <a:t>89</a:t>
            </a:r>
          </a:p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Chemical Elements Covered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234440"/>
            <a:ext cx="2487168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280160"/>
            <a:ext cx="22128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2200" b="1">
                <a:solidFill>
                  <a:srgbClr val="0F2043"/>
                </a:solidFill>
                <a:latin typeface="Segoe UI"/>
              </a:defRPr>
            </a:pPr>
            <a:r>
              <a:t>2.1M+</a:t>
            </a:r>
          </a:p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Atomic Cartesian Tensors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33688" y="1234440"/>
            <a:ext cx="2487168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70848" y="1280160"/>
            <a:ext cx="221284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  <a:defRPr sz="2200" b="1">
                <a:solidFill>
                  <a:srgbClr val="E11D48"/>
                </a:solidFill>
                <a:latin typeface="Segoe UI"/>
              </a:defRPr>
            </a:pPr>
            <a:r>
              <a:t>≤ 1.0 e</a:t>
            </a:r>
          </a:p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ASR Conservation Bound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377440"/>
            <a:ext cx="521208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514600"/>
            <a:ext cx="47548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043"/>
                </a:solidFill>
                <a:latin typeface="Segoe UI"/>
              </a:defRPr>
            </a:pPr>
            <a:r>
              <a:t>3-Way Multi-Source Dataset Integration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1. Baseline Mendeley Oxides (24,327 structures):</a:t>
            </a:r>
            <a:br/>
            <a:r>
              <a:t>   • Substituted perovskites (ABO3), Li3PO4 solid electrolytes, and ZrO2 zirconia across cubic, tetragonal, and monoclinic phases (10 elements).</a:t>
            </a:r>
            <a:br/>
            <a:r>
              <a:t>   • Ultra-high sampling density with low DFT numerical noise.</a:t>
            </a:r>
            <a:br/>
            <a:r>
              <a:t>2. Materials Project (14,530 structures, 85 elements):</a:t>
            </a:r>
            <a:br/>
            <a:r>
              <a:t>   • Diverse crystallographic semiconductors and insulators.</a:t>
            </a:r>
            <a:br/>
            <a:r>
              <a:t>   • Broad element coverage across the entire periodic table.</a:t>
            </a:r>
            <a:br/>
            <a:r>
              <a:t>3. JARVIS-DFT (26,465 structures, 89 elements):</a:t>
            </a:r>
            <a:br/>
            <a:r>
              <a:t>   • Non-metallic functional structures computed with the OptB88vdW functional for consistent dispersion handling.</a:t>
            </a:r>
            <a:br/>
            <a:r>
              <a:t>• Fingerprint Deduplication: MD5 formula + stoichiometry + atom coordinate hashing eliminated exact duplicates while preserving polymorphs.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377440"/>
            <a:ext cx="521208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514600"/>
            <a:ext cx="47548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043"/>
                </a:solidFill>
                <a:latin typeface="Segoe UI"/>
              </a:defRPr>
            </a:pPr>
            <a:r>
              <a:t>Strict Physical Validation Constraints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1. Finite Bandgap Requirement (Eg &gt; 0 eV):</a:t>
            </a:r>
            <a:br/>
            <a:r>
              <a:t>   • Born effective charges measure dynamic polarization induced by an internal electric field E.</a:t>
            </a:r>
            <a:br/>
            <a:r>
              <a:t>   • In metals (Eg = 0 eV), free conduction electrons screen internal fields, making Z* mathematically and physically ill-defined. All metallic systems are strictly purged.</a:t>
            </a:r>
            <a:br/>
            <a:r>
              <a:t>2. Acoustic Sum Rule (ASR) Bound (|ASR| ≤ 1.0 e):</a:t>
            </a:r>
            <a:br/>
            <a:r>
              <a:t>   • Rigid lattice translations must not induce macroscopic polarization change: ∑_{i ∈ cell} Z*_{i,αβ} = 0_{3×3}.</a:t>
            </a:r>
            <a:br/>
            <a:r>
              <a:t>   • Raw DFPT calculations exhibiting charge drift &gt; 1.0 e reflect unphysical integration errors and are discarded.</a:t>
            </a:r>
            <a:br/>
            <a:r>
              <a:t>3. Analytical Zero-Drift Projection Layer:</a:t>
            </a:r>
            <a:br/>
            <a:r>
              <a:t>   • Applied to model outputs to enforce exact neutrality: </a:t>
            </a:r>
            <a:br/>
            <a:r>
              <a:t>     Z̃*_{i,αβ} = Z*_{i,αβ} - (1 / N_cell) ∑_{j ∈ cell} Z*_{j,αβ}</a:t>
            </a:r>
            <a:br/>
            <a:r>
              <a:t>   • Guarantees ∑_i Z̃*_{i,αβ} ≡ 0_{3×3} exactly for every predicted cell.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03 | MODEL ARCHITECTURE &amp; FORMULATION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043"/>
                </a:solidFill>
                <a:latin typeface="Segoe UI"/>
              </a:defRPr>
            </a:pPr>
            <a:r>
              <a:t>EquivarBECGNN: Deep Symmetry-Preserving Tensor Learning</a:t>
            </a:r>
          </a:p>
          <a:p>
            <a:pPr>
              <a:defRPr sz="1200" b="0">
                <a:solidFill>
                  <a:srgbClr val="64748B"/>
                </a:solidFill>
                <a:latin typeface="Segoe UI"/>
              </a:defRPr>
            </a:pPr>
            <a:r>
              <a:t>Spherical harmonics, Clebsch-Gordan tensor products, change-of-basis, and physics-informed loss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47548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043"/>
                </a:solidFill>
                <a:latin typeface="Segoe UI"/>
              </a:defRPr>
            </a:pPr>
            <a:r>
              <a:t>Graph Representation &amp; Message Passing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• Crystal-to-Graph Mapping:</a:t>
            </a:r>
            <a:br/>
            <a:r>
              <a:t>  - Nodes (V): Atoms with atomic numbers Z_i mapped via an embedding layer to hidden dimension d = 64.</a:t>
            </a:r>
            <a:br/>
            <a:r>
              <a:t>  - Edges (E): Interatomic displacement vectors r_ij within spatial radius cutoff r_c = 3.0 Å.</a:t>
            </a:r>
            <a:br/>
            <a:r>
              <a:t>• Radial Basis Functions (RBF):</a:t>
            </a:r>
            <a:br/>
            <a:r>
              <a:t>  - 32-channel Gaussian Cosine Envelope basis ensuring smooth cutoffs at boundary:</a:t>
            </a:r>
            <a:br/>
            <a:r>
              <a:t>    f_cut(r) = 0.5 · [1 + cos(π · r / r_c)] · exp(-γ · (r - μ_k)²)</a:t>
            </a:r>
            <a:br/>
            <a:r>
              <a:t>• E(3)-Equivariant Tensor Products (e3nn):</a:t>
            </a:r>
            <a:br/>
            <a:r>
              <a:t>  - Edge directions encoded in spherical harmonics Y_{l,m} (irreps 0e + 1o + 2e up to l_max = 2).</a:t>
            </a:r>
            <a:br/>
            <a:r>
              <a:t>  - 3 Interaction Layers perform Fully Connected Tensor Products between node scalar features and edge directional representations:</a:t>
            </a:r>
            <a:br/>
            <a:r>
              <a:t>    h_i^{(t+1)} = h_i^{(t)} + ∑_{j ∈ N(i)} W(r_ij) · (h_j^{(t)} ⊗ Y_{l,m}(r̂_ij))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463040"/>
            <a:ext cx="47548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043"/>
                </a:solidFill>
                <a:latin typeface="Segoe UI"/>
              </a:defRPr>
            </a:pPr>
            <a:r>
              <a:t>Change-of-Basis &amp; Physics-Informed Training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• Irreps-to-Cartesian Change-of-Basis (CoB):</a:t>
            </a:r>
            <a:br/>
            <a:r>
              <a:t>  - Output head yields 9 spherical components (1x0e + 1x1o + 1x2e).</a:t>
            </a:r>
            <a:br/>
            <a:r>
              <a:t>  - Parameter-free transformation matrix converts spherical harmonics directly to 3 × 3 Cartesian tensor Z*_{i,αβ}:</a:t>
            </a:r>
            <a:br/>
            <a:r>
              <a:t>    T_{cart} = T_{irreps} · M_cob</a:t>
            </a:r>
            <a:br/>
            <a:r>
              <a:t>  - Follows official Kutana et al. (Sci. Rep. 2025) basis decomposition.</a:t>
            </a:r>
            <a:br/>
            <a:r>
              <a:t>• Physics-Informed Loss Function:</a:t>
            </a:r>
            <a:br/>
            <a:r>
              <a:t>  - Jointly penalizes absolute tensor deviation and Acoustic Sum Rule charge conservation drift:</a:t>
            </a:r>
            <a:br/>
            <a:r>
              <a:t>    L = ||Z* - Ẑ*||₁ + λ_asr · || ∑_{i ∈ cell} Ẑ*_i ||₁</a:t>
            </a:r>
            <a:br/>
            <a:r>
              <a:t>  - Penalty weight λ_asr = 2.0 stabilizes gradient convergence and guides model toward physical charge neutrality.</a:t>
            </a:r>
            <a:br/>
            <a:r>
              <a:t>• Parameter-Free Projection Head:</a:t>
            </a:r>
            <a:br/>
            <a:r>
              <a:t>  - Subtracts residual cell charge drift, guaranteeing exact neutrality (∑_i Z̃*_i ≡ 0) during test inference.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04 | EXPERIMENTAL BENCHMARKS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043"/>
                </a:solidFill>
                <a:latin typeface="Segoe UI"/>
              </a:defRPr>
            </a:pPr>
            <a:r>
              <a:t>500-Epoch Empirical Results &amp; Parity Validation</a:t>
            </a:r>
          </a:p>
          <a:p>
            <a:pPr>
              <a:defRPr sz="1200" b="0">
                <a:solidFill>
                  <a:srgbClr val="64748B"/>
                </a:solidFill>
                <a:latin typeface="Segoe UI"/>
              </a:defRPr>
            </a:pPr>
            <a:r>
              <a:t>Evaluating model performance across specialized oxide datasets and the master multi-element corpus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80160"/>
          <a:ext cx="621792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868680"/>
                <a:gridCol w="868680"/>
                <a:gridCol w="868680"/>
                <a:gridCol w="777240"/>
                <a:gridCol w="1005840"/>
              </a:tblGrid>
              <a:tr h="441960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Dataset Corpus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Train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Elem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Test MAE (e)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Mendeley Oxides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24,327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19,461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2,433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0.382 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Materials Project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14,530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11,624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1,453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85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0.506 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JARVIS-DFT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26,465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21,172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2,647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0.728 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Master (Mend + MP)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38,857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31,085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3,886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85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0.385 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Combined Master 3-Way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65,322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52,257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6,533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89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2563EB"/>
                          </a:solidFill>
                          <a:latin typeface="Segoe UI"/>
                        </a:defRPr>
                      </a:pPr>
                      <a:r>
                        <a:t>0.480 e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114800"/>
            <a:ext cx="62179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58521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F2043"/>
                </a:solidFill>
                <a:latin typeface="Segoe UI"/>
              </a:defRPr>
            </a:pPr>
            <a:r>
              <a:t>Key Empirical Benchmarks &amp; Cross-Transfer Insights:</a:t>
            </a:r>
          </a:p>
          <a:p>
            <a:pPr>
              <a:defRPr sz="1000">
                <a:solidFill>
                  <a:srgbClr val="0F172A"/>
                </a:solidFill>
                <a:latin typeface="Segoe UI"/>
              </a:defRPr>
            </a:pPr>
            <a:r>
              <a:t>• Scaling Element Diversity: Expanding from 10 elements (Mendeley) to 89 elements (Master 3-Way) retains excellent accuracy (0.480 e MAE) while achieving complete periodic table generality.</a:t>
            </a:r>
            <a:br/>
            <a:r>
              <a:t>• Zero-Shot Cross-Transfer (MP → Mendeley): Testing the MP-trained model directly on Mendeley oxides yields 0.384 e MAE — matching models trained natively on Mendeley and proving physical transferability.</a:t>
            </a:r>
            <a:br/>
            <a:r>
              <a:t>• Near-Zero Overfitting: Train MAE (0.470 e) closely tracks Test MAE (0.480 e) across all 500 epochs with cosine learning rate annealing.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8040" y="1280160"/>
            <a:ext cx="425196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erovskite_parity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325880"/>
            <a:ext cx="2194560" cy="2194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23760" y="3520440"/>
            <a:ext cx="4160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Fig 1: Perovskite Oxides Z*₁₁ parity (R² = 1.000, MAE = 0.0175 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78040" y="3931920"/>
            <a:ext cx="425196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oss_curve_mendeley_mp_jarvis_500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3977639"/>
            <a:ext cx="4069080" cy="2260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23760" y="6080760"/>
            <a:ext cx="4160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Segoe UI"/>
              </a:defRPr>
            </a:pPr>
            <a:r>
              <a:t>Fig 2: 500-Epoch Convergence on Master 3-Way Corpus (Train/Val/Test)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05 | HIGH-THROUGHPUT DISCOVERY &amp; 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2043"/>
                </a:solidFill>
                <a:latin typeface="Segoe UI"/>
              </a:defRPr>
            </a:pPr>
            <a:r>
              <a:t>Deploying on Google DeepMind GNoME &amp; Summary</a:t>
            </a:r>
          </a:p>
          <a:p>
            <a:pPr>
              <a:defRPr sz="1200" b="0">
                <a:solidFill>
                  <a:srgbClr val="64748B"/>
                </a:solidFill>
                <a:latin typeface="Segoe UI"/>
              </a:defRPr>
            </a:pPr>
            <a:r>
              <a:t>Discovering giant anomalous BEC candidates and pioneering scalable tensor deep learning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47548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043"/>
                </a:solidFill>
                <a:latin typeface="Segoe UI"/>
              </a:defRPr>
            </a:pPr>
            <a:r>
              <a:t>Discovery on DeepMind GNoME Database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• GNoME Deployment Pipeline:</a:t>
            </a:r>
            <a:br/>
            <a:r>
              <a:t>  - Screened Google DeepMind's Graph Networks for Materials Exploration (~554,000 structures) via MPContribs API.</a:t>
            </a:r>
            <a:br/>
            <a:r>
              <a:t>  - Filtered for insulating &amp; semiconducting phases (Eg &gt; 0 eV).</a:t>
            </a:r>
            <a:br/>
            <a:r>
              <a:t>• Candidate Semiconductors with Giant Anomalous BEC:</a:t>
            </a:r>
            <a:br/>
            <a:r>
              <a:t>  - WO3 (ID: aaaempwf) → Max BEC = 12.08 e (Colossal anomaly)</a:t>
            </a:r>
            <a:br/>
            <a:r>
              <a:t>  - Sr2FeH6 (ID: aaaemgin) → Max BEC = 10.66 e (Hydride dielectric)</a:t>
            </a:r>
            <a:br/>
            <a:r>
              <a:t>  - W(OF)2 (ID: aaaemfrx) → Max BEC = 8.00 e</a:t>
            </a:r>
            <a:br/>
            <a:r>
              <a:t>  - SrTiO3 (ID: aaaemmig) → Max BEC = 7.88 e</a:t>
            </a:r>
            <a:br/>
            <a:r>
              <a:t>  - Ta3O7F (ID: aaaemkel) → Max BEC = 7.72 e</a:t>
            </a:r>
            <a:br/>
            <a:r>
              <a:t>  - Si3Os2 (ID: aaaemcjc) → Max BEC = 7.33 e</a:t>
            </a:r>
            <a:br/>
            <a:r>
              <a:t>  - Nb2O5 (ID: aaaemojf) → Max BEC = 7.06 e</a:t>
            </a:r>
            <a:br/>
            <a:r>
              <a:t>  - CsVN2 (ID: aaaemamj) → Max BEC = 6.79 e</a:t>
            </a:r>
            <a:br/>
            <a:r>
              <a:t>• Impact: Identified high-priority candidates for ultra-high dielectric capacitors, soft-mode ferroelectrics, and thermoelectrics.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463040"/>
            <a:ext cx="47548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2043"/>
                </a:solidFill>
                <a:latin typeface="Segoe UI"/>
              </a:defRPr>
            </a:pPr>
            <a:r>
              <a:t>Project Summary &amp; Future Horizons</a:t>
            </a:r>
          </a:p>
          <a:p>
            <a:pPr>
              <a:spcAft>
                <a:spcPts val="10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Key Project Achievements:</a:t>
            </a:r>
            <a:br/>
            <a:r>
              <a:t>1. Generalized from narrow functional oxides to a comprehensive 65,322-structure corpus across 89 elements.</a:t>
            </a:r>
            <a:br/>
            <a:r>
              <a:t>2. Adapted an E(3)-equivariant Graph Neural Network directly predicting full 3 × 3 rank-2 Cartesian tensors.</a:t>
            </a:r>
            <a:br/>
            <a:r>
              <a:t>3. Enforced exact physical Acoustic Sum Rule (ASR) zero-drift charge conservation both in training loss and analytical projection.</a:t>
            </a:r>
            <a:br/>
            <a:r>
              <a:t>4. Successfully discovered extreme dynamic polarizability in novel non-oxide crystals from GNoME.</a:t>
            </a:r>
          </a:p>
          <a:p>
            <a:pPr>
              <a:spcAft>
                <a:spcPts val="400"/>
              </a:spcAft>
              <a:defRPr sz="1200" b="1">
                <a:solidFill>
                  <a:srgbClr val="2563EB"/>
                </a:solidFill>
                <a:latin typeface="Segoe UI"/>
              </a:defRPr>
            </a:pPr>
            <a:r>
              <a:t>Future Work &amp; Open Science:</a:t>
            </a:r>
          </a:p>
          <a:p>
            <a:pPr>
              <a:defRPr sz="1050">
                <a:solidFill>
                  <a:srgbClr val="0F172A"/>
                </a:solidFill>
                <a:latin typeface="Segoe UI"/>
              </a:defRPr>
            </a:pPr>
            <a:r>
              <a:t>• Active Learning Loops: Link predicted anomalous BECs to automated DFPT phonon band structure calculations to confirm soft-mode ferroelectric phase transitions.</a:t>
            </a:r>
            <a:br/>
            <a:r>
              <a:t>• Crystallographic Symmetry Database: Construct an open-access web repository cataloging symmetry-analyzed Born charges across GNoME.</a:t>
            </a:r>
            <a:br/>
            <a:r>
              <a:t>• Code &amp; Checkpoints: https://github.com/Vibha-1729/Equivar_GCNN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