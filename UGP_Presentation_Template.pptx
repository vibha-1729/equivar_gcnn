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ABA67-FF8A-431A-8266-5D214CA2FC95}" v="4" dt="2026-09-25T19:45:48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bha Narayan" userId="72e83984b02a6769" providerId="LiveId" clId="{5124AF5A-8E97-405E-8D60-C7F613E27050}"/>
    <pc:docChg chg="modSld">
      <pc:chgData name="Vibha Narayan" userId="72e83984b02a6769" providerId="LiveId" clId="{5124AF5A-8E97-405E-8D60-C7F613E27050}" dt="2026-09-25T19:45:48.335" v="54"/>
      <pc:docMkLst>
        <pc:docMk/>
      </pc:docMkLst>
      <pc:sldChg chg="modSp mod">
        <pc:chgData name="Vibha Narayan" userId="72e83984b02a6769" providerId="LiveId" clId="{5124AF5A-8E97-405E-8D60-C7F613E27050}" dt="2026-09-25T19:45:48.335" v="54"/>
        <pc:sldMkLst>
          <pc:docMk/>
          <pc:sldMk cId="0" sldId="256"/>
        </pc:sldMkLst>
        <pc:spChg chg="mod">
          <ac:chgData name="Vibha Narayan" userId="72e83984b02a6769" providerId="LiveId" clId="{5124AF5A-8E97-405E-8D60-C7F613E27050}" dt="2026-09-25T19:45:48.335" v="54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t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08760"/>
            <a:ext cx="6858000" cy="1908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0F2850"/>
                </a:solidFill>
                <a:latin typeface="Segoe UI"/>
              </a:defRPr>
            </a:pPr>
            <a:r>
              <a:rPr dirty="0"/>
              <a:t>Data-Driven Discovery of</a:t>
            </a:r>
            <a:r>
              <a:rPr lang="en-US" dirty="0"/>
              <a:t> </a:t>
            </a:r>
            <a:r>
              <a:rPr lang="en-IN" sz="3100" b="1" dirty="0">
                <a:solidFill>
                  <a:srgbClr val="0F2850"/>
                </a:solidFill>
                <a:latin typeface="Segoe UI"/>
              </a:rPr>
              <a:t>Crystalline Semiconductors with </a:t>
            </a:r>
            <a:r>
              <a:rPr dirty="0"/>
              <a:t>Anomalous Born Effective Charges</a:t>
            </a:r>
            <a:r>
              <a:rPr lang="en-US" dirty="0"/>
              <a:t> </a:t>
            </a:r>
            <a:r>
              <a:rPr lang="en-IN" sz="3100" b="1" dirty="0">
                <a:solidFill>
                  <a:srgbClr val="0F2850"/>
                </a:solidFill>
                <a:latin typeface="Segoe UI"/>
              </a:rPr>
              <a:t>using an Equivariant Graph Neural Network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621792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55B8"/>
                </a:solidFill>
                <a:latin typeface="Segoe UI"/>
              </a:defRPr>
            </a:pPr>
            <a:r>
              <a:t>Presented by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Vibha Narayan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Undergraduate</a:t>
            </a:r>
            <a:br/>
            <a:r>
              <a:t>Department of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4805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55B8"/>
                </a:solidFill>
                <a:latin typeface="Segoe UI"/>
              </a:defRPr>
            </a:pPr>
            <a:r>
              <a:t>Project Supervisor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Prof. Koushik Pal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Department of Physics</a:t>
            </a:r>
            <a:br/>
            <a:r>
              <a:t>IIT Kanpur</a:t>
            </a:r>
          </a:p>
        </p:txBody>
      </p:sp>
      <p:pic>
        <p:nvPicPr>
          <p:cNvPr id="8" name="Picture 7" descr="crystal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2850"/>
                </a:solidFill>
                <a:latin typeface="Segoe UI"/>
              </a:defRPr>
            </a:pPr>
            <a:r>
              <a:rPr dirty="0"/>
              <a:t>Motivation : Born Effective Charges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Born Effective Charge (BEC) tensors govern how a material's macroscopic electric polarization changes when atoms displace under an electric field. Identifying materials with anomalous Born charges unlocks transformative applications across energy storage and electronics. Yet computation of the full 3×3 tensor via first-principles DFPT remains prohibitively slow at scale, making deep learning a strategic necessity.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212080" cy="219456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2850"/>
                </a:solidFill>
                <a:latin typeface="Segoe UI"/>
              </a:defRPr>
            </a:pPr>
            <a:r>
              <a:rPr dirty="0"/>
              <a:t>Normal vs. Anomalous Born Charges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rPr dirty="0"/>
              <a:t>In standard ionic crystals, atoms have nominal valences (e.g. Ti is +4, O is -2). In anomalous materials (like BaTiO3), Ti acts with an effective charge of +7.5 e! This anomaly comes from dynamic hopping and hybridization between metal d and oxygen 2p orbitals during atomic vibration.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40280"/>
            <a:ext cx="5212080" cy="219456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F2850"/>
                </a:solidFill>
                <a:latin typeface="Segoe UI"/>
              </a:defRPr>
            </a:pPr>
            <a:r>
              <a:t>Why It Matters for Technology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Giant anomalous Born charges signal soft optical phonon modes, ferroelectric instability, and colossal dielectric permittivity. These are key for non-volatile ferroelectric RAM (FeRAM), ultra-high energy density capacitors, wearable piezoelectric sensors, and thermoelectrics.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328416" cy="16916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3054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0F2850"/>
                </a:solidFill>
                <a:latin typeface="Segoe UI"/>
              </a:defRPr>
            </a:pPr>
            <a:r>
              <a:rPr dirty="0"/>
              <a:t>BEC Tensor Origin</a:t>
            </a:r>
          </a:p>
          <a:p>
            <a:pPr algn="ctr">
              <a:defRPr sz="950">
                <a:solidFill>
                  <a:srgbClr val="1E293B"/>
                </a:solidFill>
                <a:latin typeface="Segoe UI"/>
              </a:defRPr>
            </a:pPr>
            <a:r>
              <a:rPr dirty="0"/>
              <a:t>In computational materials physics, Z* is a 3×3 Cartesian tensor defined as Z* = (Ω/e) ∂P/∂u, describing how displacement in x, y, z creates polarization along x, y, 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663440"/>
            <a:ext cx="3328416" cy="16916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4754880"/>
            <a:ext cx="3054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0F2850"/>
                </a:solidFill>
                <a:latin typeface="Segoe UI"/>
              </a:defRPr>
            </a:pPr>
            <a:r>
              <a:t>DFT Bottleneck</a:t>
            </a:r>
          </a:p>
          <a:p>
            <a:pPr algn="ctr">
              <a:defRPr sz="950">
                <a:solidFill>
                  <a:srgbClr val="1E293B"/>
                </a:solidFill>
                <a:latin typeface="Segoe UI"/>
              </a:defRPr>
            </a:pPr>
            <a:r>
              <a:t>Density Functional Perturbation Theory (DFPT) scales cubically as O(N³), taking hours of compute per crystal; completely infeasible at the scale of hundreds of thousands of structures.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4663440"/>
            <a:ext cx="3328416" cy="16916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4754880"/>
            <a:ext cx="3054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0F2850"/>
                </a:solidFill>
                <a:latin typeface="Segoe UI"/>
              </a:defRPr>
            </a:pPr>
            <a:r>
              <a:t>Deep Learning Solution</a:t>
            </a:r>
          </a:p>
          <a:p>
            <a:pPr algn="ctr">
              <a:defRPr sz="950">
                <a:solidFill>
                  <a:srgbClr val="1E293B"/>
                </a:solidFill>
                <a:latin typeface="Segoe UI"/>
              </a:defRPr>
            </a:pPr>
            <a:r>
              <a:t>Equivariant graph neural networks trained on curated DFT data preserve 3D rotational symmetry, enabling full rank-2 tensor prediction in milliseconds per structure at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2850"/>
                </a:solidFill>
                <a:latin typeface="Segoe UI"/>
              </a:defRPr>
            </a:pPr>
            <a:r>
              <a:t>Dataset Preprocessing &amp; Physical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21792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55B8"/>
                </a:solidFill>
                <a:latin typeface="Segoe UI"/>
              </a:defRPr>
            </a:pPr>
            <a:r>
              <a:t>Source Aggregation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~65,322 compounds aggregated from Mendeley Oxides, Materials Project, and JARVIS databases, each providing DFT-computed 3×3 Born effective charge tensors alongside crystal structures.</a:t>
            </a:r>
          </a:p>
          <a:p>
            <a:pPr>
              <a:spcAft>
                <a:spcPts val="400"/>
              </a:spcAft>
              <a:defRPr sz="1300" b="1">
                <a:solidFill>
                  <a:srgbClr val="0055B8"/>
                </a:solidFill>
                <a:latin typeface="Segoe UI"/>
              </a:defRPr>
            </a:pPr>
            <a:r>
              <a:t>Physical Threshold Filtering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Raw DFT calculations contain unphysical anomalies and poorly converged calculations. To guarantee genuine physical validity, strict bounds were applied: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6217920" cy="12344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2850"/>
                </a:solidFill>
                <a:latin typeface="Segoe UI"/>
              </a:defRPr>
            </a:pPr>
            <a:r>
              <a:t>❏  Eg &gt; 0 eV for all structures (metals strictly excluded)</a:t>
            </a:r>
          </a:p>
          <a:p>
            <a:pPr>
              <a:defRPr sz="1050" b="1">
                <a:solidFill>
                  <a:srgbClr val="0F2850"/>
                </a:solidFill>
                <a:latin typeface="Segoe UI"/>
              </a:defRPr>
            </a:pPr>
            <a:r>
              <a:t>❏  |ASR| ≤ 1.0 e Acoustic Sum Rule charge neutrality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In metals (Eg = 0 eV), free conduction electrons screen electric fields, making Born charges ill-defined. Rigid lattice translations must not induce polarization. This filtering produced a robust, physical training corpus of 65,322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393192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137160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3600" b="1">
                <a:solidFill>
                  <a:srgbClr val="0055B8"/>
                </a:solidFill>
                <a:latin typeface="Segoe UI"/>
              </a:defRPr>
            </a:pPr>
            <a:r>
              <a:t>65.3K</a:t>
            </a:r>
          </a:p>
          <a:p>
            <a:pPr algn="ctr">
              <a:defRPr sz="1100">
                <a:solidFill>
                  <a:srgbClr val="0F2850"/>
                </a:solidFill>
                <a:latin typeface="Segoe UI"/>
              </a:defRPr>
            </a:pPr>
            <a:r>
              <a:t>Raw Compounds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Mendeley + Materials Project + JARVIS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971800"/>
            <a:ext cx="393192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30632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3600" b="1">
                <a:solidFill>
                  <a:srgbClr val="0055B8"/>
                </a:solidFill>
                <a:latin typeface="Segoe UI"/>
              </a:defRPr>
            </a:pPr>
            <a:r>
              <a:t>89</a:t>
            </a:r>
          </a:p>
          <a:p>
            <a:pPr algn="ctr">
              <a:defRPr sz="1100">
                <a:solidFill>
                  <a:srgbClr val="0F2850"/>
                </a:solidFill>
                <a:latin typeface="Segoe UI"/>
              </a:defRPr>
            </a:pPr>
            <a:r>
              <a:t>Chemical Elements Covered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Comprehensive Periodic Table Diversity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663440"/>
            <a:ext cx="1874519" cy="12801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475488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2850"/>
                </a:solidFill>
                <a:latin typeface="Segoe UI"/>
              </a:defRPr>
            </a:pPr>
            <a:r>
              <a:t>14,530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Materials Project</a:t>
            </a:r>
            <a:br/>
            <a:r>
              <a:t>(85 Elements)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4663440"/>
            <a:ext cx="1874519" cy="12801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475488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2850"/>
                </a:solidFill>
                <a:latin typeface="Segoe UI"/>
              </a:defRPr>
            </a:pPr>
            <a:r>
              <a:t>26,465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JARVIS-DFT</a:t>
            </a:r>
            <a:br/>
            <a:r>
              <a:t>(89 Elements)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2850"/>
                </a:solidFill>
                <a:latin typeface="Segoe UI"/>
              </a:defRPr>
            </a:pPr>
            <a:r>
              <a:t>E(3)-Equivariant GNN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55B8"/>
                </a:solidFill>
                <a:latin typeface="Segoe UI"/>
              </a:defRPr>
            </a:pPr>
            <a:r>
              <a:t>Baseline: Invariant Literature Model (Kutana et al.)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Replicated Kutana et al. (Sci. Rep. 2025) on Mendeley oxides. While accurate on perovskites, it was strictly limited to 10 elements and could not generalize across the periodic table.</a:t>
            </a:r>
          </a:p>
          <a:p>
            <a:pPr>
              <a:spcAft>
                <a:spcPts val="300"/>
              </a:spcAft>
              <a:defRPr sz="1200" b="1">
                <a:solidFill>
                  <a:srgbClr val="0055B8"/>
                </a:solidFill>
                <a:latin typeface="Segoe UI"/>
              </a:defRPr>
            </a:pPr>
            <a:r>
              <a:t>Advanced: Master E(3)-Equivariant GNN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Predicts the full 3×3 Born charge tensor in a single forward pass, with representations that transform correctly under 3D rotations, reflections, and translations preserving physical symmetry by construction. The model uses SiLU activation and spherical harmonics up to l=2.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246888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850"/>
                </a:solidFill>
                <a:latin typeface="Segoe UI"/>
              </a:defRPr>
            </a:pPr>
            <a:r>
              <a:t>Literature Baseline</a:t>
            </a:r>
          </a:p>
          <a:p>
            <a:pPr algn="ctr">
              <a:defRPr sz="1000">
                <a:solidFill>
                  <a:srgbClr val="1E293B"/>
                </a:solidFill>
                <a:latin typeface="Segoe UI"/>
              </a:defRPr>
            </a:pPr>
            <a:r>
              <a:t>MAE = 0.382 e | R² = 1.000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(10 Oxide Elements)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663440"/>
            <a:ext cx="246888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47548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850"/>
                </a:solidFill>
                <a:latin typeface="Segoe UI"/>
              </a:defRPr>
            </a:pPr>
            <a:r>
              <a:t>Master Equivariant GNN</a:t>
            </a:r>
          </a:p>
          <a:p>
            <a:pPr algn="ctr">
              <a:defRPr sz="1000">
                <a:solidFill>
                  <a:srgbClr val="1E293B"/>
                </a:solidFill>
                <a:latin typeface="Segoe UI"/>
              </a:defRPr>
            </a:pPr>
            <a:r>
              <a:t>MAE = 0.480 e | R² = 0.998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(89 Chemical Elements)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PHYSICS-INFORMED LOSS FUNCTION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The loss function encodes physical priors and crystal charge neutrality simultaneously to guide the model toward physically realizable tensor predictions: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 = ||Z* - Ẑ*||₁ + λasr || ∑_{i∈cell} Ẑ*i ||₁</a:t>
            </a:r>
          </a:p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Term 1: L₁ Reconstruction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Standard mean absolute error on all 9 Cartesian tensor components.</a:t>
            </a:r>
          </a:p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λasr = 2.0 (Acoustic Sum Rule Penalty)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Rigid translation penalty enforces zero net cell polarization drift during training.</a:t>
            </a:r>
          </a:p>
          <a:p>
            <a:pPr>
              <a:spcAft>
                <a:spcPts val="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Exact Projection Layer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Parameter-free post-processing layer: Z̃* = Z* - (1/N) ∑ Z*, guaranteeing ∑ Z̃* ≡ 0 analytically for every predicted crystal cell.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2850"/>
                </a:solidFill>
                <a:latin typeface="Segoe UI"/>
              </a:defRPr>
            </a:pPr>
            <a:r>
              <a:t>Physical Validation &amp; Cross-Dataset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55B8"/>
                </a:solidFill>
                <a:latin typeface="Segoe UI"/>
              </a:defRPr>
            </a:pPr>
            <a:r>
              <a:t>The Cross-Dataset Transfer Test</a:t>
            </a:r>
          </a:p>
          <a:p>
            <a:pPr>
              <a:spcAft>
                <a:spcPts val="10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To test if our model genuinely learned physical principles rather than memorizing dataset features, we evaluated the Materials Project model on Mendeley oxides without retraining:</a:t>
            </a:r>
            <a:br/>
            <a:r>
              <a:t>• Reached MAE = 0.384 e, matching the native oxide model!</a:t>
            </a:r>
          </a:p>
          <a:p>
            <a:pPr>
              <a:spcAft>
                <a:spcPts val="300"/>
              </a:spcAft>
              <a:defRPr sz="1200" b="1">
                <a:solidFill>
                  <a:srgbClr val="0055B8"/>
                </a:solidFill>
                <a:latin typeface="Segoe UI"/>
              </a:defRPr>
            </a:pPr>
            <a:r>
              <a:t>Why Literature Needed Expansion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Evaluating the oxide model on Materials Project gave MAE = 2.86 e. The model failed because it had never seen elements outside its 10 oxide species. This proved multi-dataset fusion is essential.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5212080" cy="164592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2850"/>
                </a:solidFill>
                <a:latin typeface="Segoe UI"/>
              </a:defRPr>
            </a:pPr>
            <a:r>
              <a:t>❏  Requirement: |ASR| ≤ 1.0 e and Eg &gt; 0 eV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This ensures every candidate material discovered by the model is physically viable and can realistically be synthesized and measured in a laboratory setting. Only physically realizable candidates pass through.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F2850"/>
                </a:solidFill>
                <a:latin typeface="Segoe UI"/>
              </a:defRPr>
            </a:pPr>
            <a:r>
              <a:t>Step 1: Predict Z* Tensor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E(3)-GNN outputs full 3×3 Cartesian tensor directly from crystal graph in milliseconds per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21208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0632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F2850"/>
                </a:solidFill>
                <a:latin typeface="Segoe UI"/>
              </a:defRPr>
            </a:pPr>
            <a:r>
              <a:t>Step 2: Acoustic Sum Rule Check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Evaluate unit-cell net charge sum ∑ Z* to verify physical translation invariance and reject unphysical numerical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09160"/>
            <a:ext cx="5212080" cy="1463040"/>
          </a:xfrm>
          <a:prstGeom prst="roundRect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800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F2850"/>
                </a:solidFill>
                <a:latin typeface="Segoe UI"/>
              </a:defRPr>
            </a:pPr>
            <a:r>
              <a:t>Step 3: Analytical Zero-Drift Projection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Apply parameter-free projection layer to guarantee exact cell charge neutrality ∑ Z̃* ≡ 0 analytically for every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2850"/>
                </a:solidFill>
                <a:latin typeface="Segoe UI"/>
              </a:defRPr>
            </a:pPr>
            <a:r>
              <a:t>Discovery on GNoME Dataset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21208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55B8"/>
                </a:solidFill>
                <a:latin typeface="Segoe UI"/>
              </a:defRPr>
            </a:pPr>
            <a:r>
              <a:t>Google DeepMind's GNoME Dataset</a:t>
            </a:r>
          </a:p>
          <a:p>
            <a:pPr>
              <a:spcAft>
                <a:spcPts val="10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The validated E(3)-GNN was deployed on Google DeepMind's GNoME dataset — a curated library of 554,000+ previously unexplored crystalline structures predicted to be thermodynamically stable. This represents a large-scale application of equivariant tensor prediction.</a:t>
            </a:r>
          </a:p>
          <a:p>
            <a:pPr>
              <a:spcAft>
                <a:spcPts val="300"/>
              </a:spcAft>
              <a:defRPr sz="1200" b="1">
                <a:solidFill>
                  <a:srgbClr val="0055B8"/>
                </a:solidFill>
                <a:latin typeface="Segoe UI"/>
              </a:defRPr>
            </a:pPr>
            <a:r>
              <a:t>Top Discovered Materials (Giant Anomalous BEC)</a:t>
            </a:r>
          </a:p>
          <a:p>
            <a:pPr>
              <a:spcAft>
                <a:spcPts val="1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The pipeline discovered novel candidate materials with giant dynamic charges:</a:t>
            </a:r>
            <a:br/>
            <a:r>
              <a:t>• WO3 (aaaempwf) → Max BEC = 12.08 e (Colossal anomaly)</a:t>
            </a:r>
            <a:br/>
            <a:r>
              <a:t>• Sr2FeH6 (aaaemgin) → Max BEC = 10.66 e (Hydride dielectric)</a:t>
            </a:r>
            <a:br/>
            <a:r>
              <a:t>• W(OF)2 (aaaemfrx) → Max BEC = 8.00 e</a:t>
            </a:r>
            <a:br/>
            <a:r>
              <a:t>• SrTiO3 (aaaemmig) → Max BEC = 7.88 e</a:t>
            </a:r>
            <a:br/>
            <a:r>
              <a:t>• Si3Os2 (aaaemcjc) → Max BEC = 7.33 e</a:t>
            </a:r>
            <a:br/>
            <a:r>
              <a:t>• Nb2O5 (aaaemojf) → Max BEC = 7.06 e</a:t>
            </a:r>
          </a:p>
          <a:p>
            <a:pPr>
              <a:defRPr sz="1000" b="1">
                <a:solidFill>
                  <a:srgbClr val="0F2850"/>
                </a:solidFill>
                <a:latin typeface="Segoe UI"/>
              </a:defRPr>
            </a:pPr>
            <a:r>
              <a:t>Code &amp; Data:</a:t>
            </a:r>
            <a:br/>
            <a:r>
              <a:t>github.com/Vibha-1729/Equivar_GCNN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6D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55B8"/>
                </a:solidFill>
                <a:latin typeface="Segoe UI"/>
              </a:defRPr>
            </a:pPr>
            <a:r>
              <a:t>Future Scope:</a:t>
            </a:r>
          </a:p>
          <a:p>
            <a:pPr>
              <a:spcAft>
                <a:spcPts val="100"/>
              </a:spcAft>
              <a:defRPr sz="1100" b="1">
                <a:solidFill>
                  <a:srgbClr val="0F2850"/>
                </a:solidFill>
                <a:latin typeface="Segoe UI"/>
              </a:defRPr>
            </a:pPr>
            <a:r>
              <a:t>• Active Learning with Phonons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Connect candidate materials directly to automated DFPT phonon calculations to verify soft-mode ferroelectric phase transitions.</a:t>
            </a:r>
          </a:p>
          <a:p>
            <a:pPr>
              <a:spcAft>
                <a:spcPts val="100"/>
              </a:spcAft>
              <a:defRPr sz="1100" b="1">
                <a:solidFill>
                  <a:srgbClr val="0F2850"/>
                </a:solidFill>
                <a:latin typeface="Segoe UI"/>
              </a:defRPr>
            </a:pPr>
            <a:r>
              <a:t>• Graph Transformers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Equiformer architecture to capture long-range atomic interactions beyond local neighborhoods.</a:t>
            </a:r>
          </a:p>
          <a:p>
            <a:pPr>
              <a:spcAft>
                <a:spcPts val="100"/>
              </a:spcAft>
              <a:defRPr sz="1100" b="1">
                <a:solidFill>
                  <a:srgbClr val="0F2850"/>
                </a:solidFill>
                <a:latin typeface="Segoe UI"/>
              </a:defRPr>
            </a:pPr>
            <a:r>
              <a:t>• Open-Access Web Database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Deploy a web interface enabling researchers to search predicted 3×3 Born charge tensors across 554k GNoME crystals without DFT computation.</a:t>
            </a:r>
          </a:p>
          <a:p>
            <a:pPr>
              <a:spcAft>
                <a:spcPts val="100"/>
              </a:spcAft>
              <a:defRPr sz="1100" b="1">
                <a:solidFill>
                  <a:srgbClr val="0F2850"/>
                </a:solidFill>
                <a:latin typeface="Segoe UI"/>
              </a:defRPr>
            </a:pPr>
            <a:r>
              <a:t>• Benchmark on Matbench Discovery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Incorporate materials datasets for testing curated by Meta and Google, available at Matbench Discovery.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340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  <a:defRPr sz="4600" b="1">
                <a:solidFill>
                  <a:srgbClr val="0055B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0F2850"/>
                </a:solidFill>
                <a:latin typeface="Segoe UI"/>
              </a:defRPr>
            </a:pPr>
            <a:r>
              <a:t>Questions &amp; Discussion</a:t>
            </a:r>
          </a:p>
          <a:p>
            <a:pPr algn="ctr">
              <a:defRPr sz="1300">
                <a:solidFill>
                  <a:srgbClr val="64748B"/>
                </a:solidFill>
                <a:latin typeface="Segoe UI"/>
              </a:defRPr>
            </a:pPr>
            <a:r>
              <a:t>Vibha Narayan  |  Prof. Koushik Pal</a:t>
            </a:r>
            <a:br/>
            <a:r>
              <a:t>Department of Physics, IIT Kanpur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1231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Vibha Narayan</cp:lastModifiedBy>
  <cp:revision>1</cp:revision>
  <dcterms:created xsi:type="dcterms:W3CDTF">2013-01-27T09:14:16Z</dcterms:created>
  <dcterms:modified xsi:type="dcterms:W3CDTF">2026-09-25T20:31:28Z</dcterms:modified>
  <cp:category/>
</cp:coreProperties>
</file>