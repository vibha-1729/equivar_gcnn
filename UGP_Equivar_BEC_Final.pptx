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68680"/>
            <a:ext cx="4389120" cy="347472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DEPARTMENT OF PHYSICS  •  IIT KANPUR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Data-Driven Discovery of Crystalline Semiconductors</a:t>
            </a:r>
            <a:br/>
            <a:r>
              <a:t>with Anomalous Born Effective Charges</a:t>
            </a:r>
          </a:p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Using an E(3)-Equivariant Graph Neural Network (UGP Project)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03320"/>
            <a:ext cx="10545775" cy="1280160"/>
          </a:xfrm>
          <a:prstGeom prst="roundRect">
            <a:avLst/>
          </a:prstGeom>
          <a:solidFill>
            <a:srgbClr val="182B49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947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Author / Presenter: Vibha Narayan  |  Department of Physics, IIT Kanpur</a:t>
            </a:r>
          </a:p>
          <a:p>
            <a:pPr>
              <a:spcAft>
                <a:spcPts val="5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Project Supervisor: Prof. Koushik Pal  |  Department of Physics, IIT Kanpur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Repository: https://github.com/Vibha-1729/Equivar_GCNN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3328416" cy="1051560"/>
          </a:xfrm>
          <a:prstGeom prst="roundRect">
            <a:avLst/>
          </a:prstGeom>
          <a:solidFill>
            <a:srgbClr val="14244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21808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E(3)-EQUIVARIANCE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Guarantees 3D rotational &amp; inversion symmetry in tensor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5257800"/>
            <a:ext cx="3328416" cy="1051560"/>
          </a:xfrm>
          <a:prstGeom prst="roundRect">
            <a:avLst/>
          </a:prstGeom>
          <a:solidFill>
            <a:srgbClr val="14244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5321808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D9488"/>
                </a:solidFill>
                <a:latin typeface="Segoe UI"/>
              </a:defRPr>
            </a:pPr>
            <a:r>
              <a:t>65,322 CRYSTALS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Unified multi-source corpus spanning 89 elements of the periodic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5257800"/>
            <a:ext cx="3328416" cy="1051560"/>
          </a:xfrm>
          <a:prstGeom prst="roundRect">
            <a:avLst/>
          </a:prstGeom>
          <a:solidFill>
            <a:srgbClr val="142441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5321808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GNOME SCREENING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Deploying on DeepMind's database to screen novel anomalous semiconductors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SECTION I  •  MOTIVATION AND PHYSICS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Born Effective Charge Tensors &amp; Dynamic Anomalies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Physical Target: Born Effective Charge (Z*)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Mathematical Definition (Rank-2 3×3 Cartesian Tensor):</a:t>
            </a:r>
            <a:br/>
            <a:r>
              <a:t>Z*_{i,αβ} = - (1 / |e|) · ∂²E / (∂E_α ∂u_{i,β}) = (Ω / e) · (∂P_α / ∂u_{i,β})</a:t>
            </a:r>
            <a:br/>
            <a:br/>
            <a:r>
              <a:t>• Describes the macroscopic polarization change (P_α) induced by sub-lattice atomic displacements (u_{i,β}) under an electric field E_α.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Origin of Anomalous Born Charges: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Large anomalous deviations from nominal ionic valences originate from dynamic O 2p and metal d-orbital hybridization during atomic motion.</a:t>
            </a:r>
            <a:br/>
            <a:r>
              <a:t>• Functional Importance: Signals soft optical phonon modes, ferroelectric instability, and colossal dielectric permittivity—essential for ferroelectric memory, capacitors, and thermoelectrics.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Computational Bottleneck: DFPT vs DL</a:t>
            </a:r>
          </a:p>
          <a:p>
            <a:pPr>
              <a:spcAft>
                <a:spcPts val="12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First-principles Density Functional Perturbation Theory (DFPT) is computationally expensive, scaling as O(N³) with unit cell size.</a:t>
            </a:r>
            <a:br/>
            <a:r>
              <a:t>• High-throughput material exploration requires fast, accurate deep learning surrogate models.</a:t>
            </a:r>
          </a:p>
          <a:p>
            <a:pPr>
              <a:spcAft>
                <a:spcPts val="400"/>
              </a:spcAft>
              <a:defRPr sz="1200" b="1">
                <a:solidFill>
                  <a:srgbClr val="0D9488"/>
                </a:solidFill>
                <a:latin typeface="Segoe UI"/>
              </a:defRPr>
            </a:pPr>
            <a:r>
              <a:t>Why E(3)-Equivariant GNNs are Required: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Scalar GNNs (e.g., standard message passing) only predict invariant scalars and fail to capture angular tensor directions.</a:t>
            </a:r>
            <a:br/>
            <a:r>
              <a:t>• In contrast, an E(3)-equivariant Graph Neural Network directly predicts full 3 × 3 tensors, inherently preserving 3D rotational and inversion symmetries by construction without requiring rotational data augmentation.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SECTION II &amp; IV  •  DATASET CURATION AND PHYSICAL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Unified 65,322-Structure Corpus &amp; Physical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Master 3-Way Dataset Integration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While prior literature models were restricted to specific functional oxide families (perovskites, Li3PO4, ZrO2), we generalize across diverse crystal families by aggregating three sources:</a:t>
            </a:r>
            <a:br/>
            <a:br/>
            <a:r>
              <a:t>1. Baseline Functional Oxides (24,327 structures):</a:t>
            </a:r>
            <a:br/>
            <a:r>
              <a:t>   • Substituted perovskites (ABO3), Li3PO4 solid electrolytes, and ZrO2 zirconia across cubic, tetragonal, and monoclinic phases (10 elements).</a:t>
            </a:r>
            <a:br/>
            <a:br/>
            <a:r>
              <a:t>2. Materials Project (14,530 structures, 85 elements):</a:t>
            </a:r>
            <a:br/>
            <a:r>
              <a:t>   • Broad crystallographic semiconductors and insulators.</a:t>
            </a:r>
            <a:br/>
            <a:br/>
            <a:r>
              <a:t>3. JARVIS-DFT (26,465 structures, 89 elements):</a:t>
            </a:r>
            <a:br/>
            <a:r>
              <a:t>   • Computed with the OptB88vdW functional for van der Waals dispersion.</a:t>
            </a:r>
            <a:br/>
            <a:br/>
            <a:r>
              <a:t>• Master 3-Way Corpus: 65,322 structures across 89 elements of the periodic table, providing a comprehensive training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Physical Validation Rules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To guarantee physical viability and exact charge neutrality, model predictions are evaluated against strict physical validation rules:</a:t>
            </a:r>
            <a:br/>
            <a:br/>
            <a:r>
              <a:t>1. Finite Bandgap Condition (Eg &gt; 0 eV):</a:t>
            </a:r>
            <a:br/>
            <a:r>
              <a:t>   • Born effective charges describe dynamic polarization under macroscopic electric fields E.</a:t>
            </a:r>
            <a:br/>
            <a:r>
              <a:t>   • In metals (Eg = 0 eV), free conduction electron screening nullifies internal fields, rendering Z* ill-defined. All candidate structures strictly require Eg &gt; 0 eV.</a:t>
            </a:r>
            <a:br/>
            <a:br/>
            <a:r>
              <a:t>2. Acoustic Sum Rule Physical Conservation:</a:t>
            </a:r>
            <a:br/>
            <a:r>
              <a:t>   • Rigid lattice translations require zero net cell polarization change: ∑_{i ∈ cell} Z*_{i,αβ} = 0_{3×3}.</a:t>
            </a:r>
            <a:br/>
            <a:br/>
            <a:r>
              <a:t>3. Exact Parameter-Free Projection Layer:</a:t>
            </a:r>
            <a:br/>
            <a:r>
              <a:t>   • Residual drift in predicted tensors is eliminated via exact projection:</a:t>
            </a:r>
            <a:br/>
            <a:r>
              <a:t>     Z̃*_{i,αβ} = Z*_{i,αβ} - (1 / N_cell) ∑_{j ∈ cell} Z*_{j,αβ}</a:t>
            </a:r>
            <a:br/>
            <a:r>
              <a:t>   • Guarantees ∑_i Z̃*_{i,αβ} ≡ 0_{3×3} analytically for every predicted crystal cell.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SECTION III  •  E(3)-EQUIVARIANT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EquivarBECGNN: Symmetry-Preserving Tensor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EquivarBECGNN Architecture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Crystal Graph Representation:</a:t>
            </a:r>
            <a:br/>
            <a:r>
              <a:t>  - Map periodic crystal structures directly to graph representations G = (V, E).</a:t>
            </a:r>
            <a:br/>
            <a:r>
              <a:t>  - Atomic node encodings Z_i embedded into 64 hidden channels.</a:t>
            </a:r>
            <a:br/>
            <a:r>
              <a:t>  - Edge displacement vectors r_ij defined within spatial cutoff radius r_c = 3.0 Å.</a:t>
            </a:r>
            <a:br/>
            <a:br/>
            <a:r>
              <a:t>• Message Passing with Spherical Harmonics (e3nn):</a:t>
            </a:r>
            <a:br/>
            <a:r>
              <a:t>  - Updates scalar node features and directional tensor representations across 3 graph interaction layers (64 channels).</a:t>
            </a:r>
            <a:br/>
            <a:r>
              <a:t>  - Uses spherical harmonics Y_{l,m} (irreps 0e + 1o + 2e up to l_max = 2) and continuous radial basis functions.</a:t>
            </a:r>
            <a:br/>
            <a:br/>
            <a:r>
              <a:t>• Change-of-Basis Matrix:</a:t>
            </a:r>
            <a:br/>
            <a:r>
              <a:t>  - Parameter-free transformation converts spherical irreducible representations into full 3 × 3 Cartesian tensor Z*_{i,αβ}.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Physics-Informed Loss Function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Training utilizes a physics-informed loss function to enforce crystal symmetries and penalize Acoustic Sum Rule violations simultaneously:</a:t>
            </a:r>
            <a:br/>
            <a:br/>
            <a:r>
              <a:t>        L = ||Z* - Ẑ*||₁ + λ_asr · || ∑_{i ∈ cell} Ẑ*_i ||₁</a:t>
            </a:r>
            <a:br/>
            <a:br/>
            <a:r>
              <a:t>• Z* and Ẑ* are true and predicted Born effective charge tensors.</a:t>
            </a:r>
            <a:br/>
            <a:r>
              <a:t>• Term 1: L₁ error on all rank-2 Cartesian tensor components.</a:t>
            </a:r>
            <a:br/>
            <a:r>
              <a:t>• Term 2 (Penalty Weight λ_asr = 2.0):</a:t>
            </a:r>
            <a:br/>
            <a:r>
              <a:t>  - Penalizes net unit-cell charge drift during backpropagation.</a:t>
            </a:r>
            <a:br/>
            <a:r>
              <a:t>  - Stabilizes gradient convergence and keeps the model physically realizable.</a:t>
            </a:r>
            <a:br/>
            <a:br/>
            <a:r>
              <a:t>• Single-Pass Prediction:</a:t>
            </a:r>
            <a:br/>
            <a:r>
              <a:t>  - Predicts full rank-2 tensors in a single pass, inherently preserving 3D spatial rotational and inversion symmetries.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SECTION IV &amp; RESULTS  •  EMPIRICAL BENCHMARKS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Model Performance &amp; Parity Validation Across Datasets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6217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731520"/>
                <a:gridCol w="640080"/>
                <a:gridCol w="640080"/>
                <a:gridCol w="731520"/>
                <a:gridCol w="1097280"/>
              </a:tblGrid>
              <a:tr h="493776"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Elem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MAE (e)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Mendeley Oxides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Materials Project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14,530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11,624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1,453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1,453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JARVIS-DFT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26,465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Combined Dataset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65,322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52,257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6,532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6,533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0.480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77639"/>
            <a:ext cx="6217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62179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5852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Key Empirical Findings (Table I Analysis):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Baseline Accuracy: The Mendeley oxide model achieves a low test MAE of 0.382 e due to dense sampling across 10 functional oxide elements.</a:t>
            </a:r>
            <a:br/>
            <a:r>
              <a:t>• Generalization to 89 Elements: Combining Mendeley, MP, and JARVIS expands chemical coverage across the periodic table to 89 elements, reaching a robust test MAE of 0.480 e on 65,322 structures.</a:t>
            </a:r>
            <a:br/>
            <a:r>
              <a:t>• Cross-Dataset Generalization: MP-trained model tested zero-shot on Mendeley achieves 0.384 e MAE, proving that the architecture captures true physical interactions.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280160"/>
            <a:ext cx="4251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0" y="1280160"/>
            <a:ext cx="425196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rovskite_par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63040"/>
            <a:ext cx="4023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0" y="566928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FIG. 1: Parity plot comparing predicted vs. DFPT-calculated Born effective charge component Z*₁₁ for perovskite oxides (R² = 1.000, MAE = 0.0175 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SECTION V &amp; VII  •  DISCOVERY APPLICATION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Deployment on DeepMind's GNoME Database &amp; Final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Discovery Application on GNoME</a:t>
            </a:r>
          </a:p>
          <a:p>
            <a:pPr>
              <a:defRPr sz="980">
                <a:solidFill>
                  <a:srgbClr val="1E293B"/>
                </a:solidFill>
                <a:latin typeface="Segoe UI"/>
              </a:defRPr>
            </a:pPr>
            <a:r>
              <a:t>• Google DeepMind's GNoME Dataset:</a:t>
            </a:r>
            <a:br/>
            <a:r>
              <a:t>  - The model is applied to Google DeepMind's Graph Networks for Materials Exploration (GNoME) dataset (~554k structures), hosted in Materials Project MPContribs.</a:t>
            </a:r>
            <a:br/>
            <a:br/>
            <a:r>
              <a:t>• High-Throughput Pipeline:</a:t>
            </a:r>
            <a:br/>
            <a:r>
              <a:t>  - Fetch GNoME crystal structures via MPContribs API IDs.</a:t>
            </a:r>
            <a:br/>
            <a:r>
              <a:t>  - Filter for Eg &gt; 0 eV semiconductors and insulators.</a:t>
            </a:r>
            <a:br/>
            <a:r>
              <a:t>  - Deploy our trained EquivarBECGNN to predict 3D BEC tensors.</a:t>
            </a:r>
            <a:br/>
            <a:br/>
            <a:r>
              <a:t>• Candidate Semiconductors with Giant Anomalous BECs:</a:t>
            </a:r>
            <a:br/>
            <a:r>
              <a:t>  - WO3 (aaaempwf) → Max BEC = 12.08 e (Colossal anomaly)</a:t>
            </a:r>
            <a:br/>
            <a:r>
              <a:t>  - Sr2FeH6 (aaaemgin) → Max BEC = 10.66 e (Hydride dielectric)</a:t>
            </a:r>
            <a:br/>
            <a:r>
              <a:t>  - W(OF)2 (aaaemfrx) → Max BEC = 8.00 e</a:t>
            </a:r>
            <a:br/>
            <a:r>
              <a:t>  - SrTiO3 (aaaemmig) → Max BEC = 7.88 e</a:t>
            </a:r>
            <a:br/>
            <a:r>
              <a:t>  - Si3Os2 (aaaemcjc) → Max BEC = 7.33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Conclusion &amp; Data Availability</a:t>
            </a:r>
          </a:p>
          <a:p>
            <a:pPr>
              <a:defRPr sz="980">
                <a:solidFill>
                  <a:srgbClr val="1E293B"/>
                </a:solidFill>
                <a:latin typeface="Segoe UI"/>
              </a:defRPr>
            </a:pPr>
            <a:r>
              <a:t>• Summary of Achievements:</a:t>
            </a:r>
            <a:br/>
            <a:r>
              <a:t>  - Successfully implemented a data-driven pipeline for predicting 3D Born effective charge tensors in crystalline materials.</a:t>
            </a:r>
            <a:br/>
            <a:r>
              <a:t>  - Extended model scope beyond literature oxides to a generalized 65,322-structure corpus spanning 89 elements.</a:t>
            </a:r>
            <a:br/>
            <a:r>
              <a:t>  - Enforced non-zero bandgap (Eg &gt; 0 eV) and exact Acoustic Sum Rule (ASR) physical charge conservation.</a:t>
            </a:r>
            <a:br/>
            <a:r>
              <a:t>  - Achieved highly accurate, symmetry-preserving tensor predictions (0.480 e MAE) via an E(3)-equivariant architecture.</a:t>
            </a:r>
            <a:br/>
            <a:br/>
            <a:r>
              <a:t>• Future Work:</a:t>
            </a:r>
            <a:br/>
            <a:r>
              <a:t>  - Deploy model on GNoME database via MPContribs to construct an open crystallographic symmetry database.</a:t>
            </a:r>
            <a:br/>
            <a:br/>
            <a:r>
              <a:t>• Code &amp; Checkpoints:</a:t>
            </a:r>
            <a:br/>
            <a:r>
              <a:t>  - Repository: https://github.com/Vibha-1729/Equivar_GCNN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800"/>
              </a:spcAft>
              <a:defRPr sz="1700" b="1">
                <a:solidFill>
                  <a:srgbClr val="38BDF8"/>
                </a:solidFill>
                <a:latin typeface="Segoe UI"/>
              </a:defRPr>
            </a:pPr>
            <a:r>
              <a:t>Questions &amp; Discussion</a:t>
            </a:r>
          </a:p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Vibha Narayan  |  Project Supervisor: Prof. Koushik Pal</a:t>
            </a:r>
            <a:br/>
            <a:r>
              <a:t>Department of Physics, Indian Institute of Technology Kanpur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